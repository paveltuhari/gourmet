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202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 i="0">
                <a:solidFill>
                  <a:srgbClr val="FFFFFF"/>
                </a:solidFill>
                <a:latin typeface="Cambria"/>
              </a:rPr>
              <a:t>planogram3d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FFD54F"/>
                </a:solidFill>
                <a:latin typeface="Calibri"/>
              </a:rPr>
              <a:t>Geamănul digital al rețelei de retail «Gurman» din Chișinău și al rețelei de stații de alimentare din toată Moldova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9476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C8D4E2"/>
                </a:solidFill>
                <a:latin typeface="Calibri"/>
              </a:rPr>
              <a:t>Planograme 3D și control de conformitate · harta live a rețelei din Chișinău · senzori ai sălii de vânzare · simulator de instruire a personalului și Roblox · livrare cu tablou de sosire bazat pe IA · rețea de stații de alimentare din toată Moldova · bon fiscal moldovenesc · interfață în trei limbi. Toate linkurile din această prezentare duc la sistemul demo funcțional.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672"/>
                </a:solidFill>
                <a:latin typeface="Calibr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3303F"/>
                </a:solidFill>
                <a:latin typeface="Cambria"/>
              </a:rPr>
              <a:t>Șase blocuri funcționale ale platformei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3611880" cy="2377440"/>
          </a:xfrm>
          <a:prstGeom prst="rect">
            <a:avLst/>
          </a:prstGeom>
          <a:solidFill>
            <a:srgbClr val="F4F6F9"/>
          </a:solidFill>
          <a:ln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defRPr sz="1600" b="1">
                <a:solidFill>
                  <a:srgbClr val="23303F"/>
                </a:solidFill>
              </a:defRPr>
            </a:pPr>
            <a:r>
              <a:t>🧊 Planograme 3D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150">
                <a:solidFill>
                  <a:srgbClr val="5B6672"/>
                </a:solidFill>
              </a:defRPr>
            </a:pPr>
            <a:r>
              <a:t>Vânzări curente cu hartă termică a stocurilor și planograma aprobată pe furnizori; carduri SKU la hover.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4343400" y="1188720"/>
            <a:ext cx="3611880" cy="2377440"/>
          </a:xfrm>
          <a:prstGeom prst="rect">
            <a:avLst/>
          </a:prstGeom>
          <a:solidFill>
            <a:srgbClr val="F4F6F9"/>
          </a:solidFill>
          <a:ln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defRPr sz="1600" b="1">
                <a:solidFill>
                  <a:srgbClr val="23303F"/>
                </a:solidFill>
              </a:defRPr>
            </a:pPr>
            <a:r>
              <a:t>✅ Control de conformitate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150">
                <a:solidFill>
                  <a:srgbClr val="5B6672"/>
                </a:solidFill>
              </a:defRPr>
            </a:pPr>
            <a:r>
              <a:t>Regulament, contracte, fapt vs. plan, OOS — raport sub scena 3D, 16 abateri în demo.</a:t>
            </a:r>
          </a:p>
        </p:txBody>
      </p:sp>
      <p:sp>
        <p:nvSpPr>
          <p:cNvPr id="5" name="Rectangle 4"/>
          <p:cNvSpPr/>
          <p:nvPr/>
        </p:nvSpPr>
        <p:spPr>
          <a:xfrm>
            <a:off x="8183880" y="1188720"/>
            <a:ext cx="3611880" cy="2377440"/>
          </a:xfrm>
          <a:prstGeom prst="rect">
            <a:avLst/>
          </a:prstGeom>
          <a:solidFill>
            <a:srgbClr val="F4F6F9"/>
          </a:solidFill>
          <a:ln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defRPr sz="1600" b="1">
                <a:solidFill>
                  <a:srgbClr val="23303F"/>
                </a:solidFill>
              </a:defRPr>
            </a:pPr>
            <a:r>
              <a:t>🗺 Harta live a Chișinăului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150">
                <a:solidFill>
                  <a:srgbClr val="5B6672"/>
                </a:solidFill>
              </a:defRPr>
            </a:pPr>
            <a:r>
              <a:t>Orașul real (OSM) în 2D/3D, emularea zilei comerciale, Zabbix, centrul logistic cu curse.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794760"/>
            <a:ext cx="3611880" cy="2377440"/>
          </a:xfrm>
          <a:prstGeom prst="rect">
            <a:avLst/>
          </a:prstGeom>
          <a:solidFill>
            <a:srgbClr val="F4F6F9"/>
          </a:solidFill>
          <a:ln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defRPr sz="1600" b="1">
                <a:solidFill>
                  <a:srgbClr val="23303F"/>
                </a:solidFill>
              </a:defRPr>
            </a:pPr>
            <a:r>
              <a:t>📡 Senzorii sălii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150">
                <a:solidFill>
                  <a:srgbClr val="5B6672"/>
                </a:solidFill>
              </a:defRPr>
            </a:pPr>
            <a:r>
              <a:t>Cozi, terminale mobile pe BLE/LoRa, frigidere, consumabile, estimarea traficului din senzorii de intrare/ieșire.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3794760"/>
            <a:ext cx="3611880" cy="2377440"/>
          </a:xfrm>
          <a:prstGeom prst="rect">
            <a:avLst/>
          </a:prstGeom>
          <a:solidFill>
            <a:srgbClr val="F4F6F9"/>
          </a:solidFill>
          <a:ln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defRPr sz="1600" b="1">
                <a:solidFill>
                  <a:srgbClr val="23303F"/>
                </a:solidFill>
              </a:defRPr>
            </a:pPr>
            <a:r>
              <a:t>🎓 Simulator + Roblox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150">
                <a:solidFill>
                  <a:srgbClr val="5B6672"/>
                </a:solidFill>
              </a:defRPr>
            </a:pPr>
            <a:r>
              <a:t>Joc de instruire a casierilor; puncte, insigne și clasament al echipei prin Open Cloud.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83880" y="3794760"/>
            <a:ext cx="3611880" cy="2377440"/>
          </a:xfrm>
          <a:prstGeom prst="rect">
            <a:avLst/>
          </a:prstGeom>
          <a:solidFill>
            <a:srgbClr val="F4F6F9"/>
          </a:solidFill>
          <a:ln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defRPr sz="1600" b="1">
                <a:solidFill>
                  <a:srgbClr val="23303F"/>
                </a:solidFill>
              </a:defRPr>
            </a:pPr>
            <a:r>
              <a:t>🛵 Livrare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150">
                <a:solidFill>
                  <a:srgbClr val="5B6672"/>
                </a:solidFill>
              </a:defRPr>
            </a:pPr>
            <a:r>
              <a:t>Asamblare, rute, diagramă Gantt, tablou de sosire cu IA și bon fiscal la predare.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672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3303F"/>
                </a:solidFill>
                <a:latin typeface="Cambria"/>
              </a:rPr>
              <a:t>Arhitectură: nucleu integrabil și extensii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3566160" cy="2011680"/>
          </a:xfrm>
          <a:prstGeom prst="rect">
            <a:avLst/>
          </a:prstGeom>
          <a:solidFill>
            <a:srgbClr val="1D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planogram3d.core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100">
                <a:solidFill>
                  <a:srgbClr val="DCE6F2"/>
                </a:solidFill>
              </a:defRPr>
            </a:pPr>
            <a:r>
              <a:t>modelul de date Store · verificări de conformitate · scene 3D (Plotly) · rapoarte HTML</a:t>
            </a:r>
          </a:p>
        </p:txBody>
      </p:sp>
      <p:sp>
        <p:nvSpPr>
          <p:cNvPr id="4" name="Rectangle 3"/>
          <p:cNvSpPr/>
          <p:nvPr/>
        </p:nvSpPr>
        <p:spPr>
          <a:xfrm>
            <a:off x="4343400" y="1188720"/>
            <a:ext cx="3566160" cy="2011680"/>
          </a:xfrm>
          <a:prstGeom prst="rect">
            <a:avLst/>
          </a:prstGeom>
          <a:solidFill>
            <a:srgbClr val="2F4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planogram3d.webapp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100">
                <a:solidFill>
                  <a:srgbClr val="DCE6F2"/>
                </a:solidFill>
              </a:defRPr>
            </a:pPr>
            <a:r>
              <a:t>harta rețelei · simularea sălii · simulator · livrare · contur de combustibil · Zabbix · echipa Roblox (Flask)</a:t>
            </a:r>
          </a:p>
        </p:txBody>
      </p:sp>
      <p:sp>
        <p:nvSpPr>
          <p:cNvPr id="5" name="Rectangle 4"/>
          <p:cNvSpPr/>
          <p:nvPr/>
        </p:nvSpPr>
        <p:spPr>
          <a:xfrm>
            <a:off x="8183880" y="1188720"/>
            <a:ext cx="3566160" cy="201168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planogram3d.robloxkit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100">
                <a:solidFill>
                  <a:srgbClr val="DCE6F2"/>
                </a:solidFill>
              </a:defRPr>
            </a:pPr>
            <a:r>
              <a:t>convertor de scene în .rbxlx · scripturi Luau ale simulatorului · fișiere place pentru Roblox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566160"/>
            <a:ext cx="10881360" cy="2377440"/>
          </a:xfrm>
          <a:prstGeom prst="rect">
            <a:avLst/>
          </a:prstGeom>
          <a:solidFill>
            <a:srgbClr val="F4F6F9"/>
          </a:solidFill>
          <a:ln>
            <a:solidFill>
              <a:srgbClr val="DF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52400"/>
          <a:lstStyle/>
          <a:p>
            <a:pPr algn="ctr">
              <a:defRPr sz="1700" b="1">
                <a:solidFill>
                  <a:srgbClr val="23303F"/>
                </a:solidFill>
              </a:defRPr>
            </a:pPr>
            <a:r>
              <a:t>Un singur obiect Store — toate datele sistemului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300">
                <a:solidFill>
                  <a:srgbClr val="5B6672"/>
                </a:solidFill>
              </a:defRPr>
            </a:pPr>
            <a:r>
              <a:t>Magazine, rafturi, produse, furnizori, contracte, planograme, vânzări, precum și stații de combustibil și curse de cisterne. Se alimentează din sistemul de evidență (inclusiv Artgranit), BD sau CSV; reguli proprii — prin extra_checks.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672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23303F"/>
                </a:solidFill>
                <a:latin typeface="Cambria"/>
              </a:rPr>
              <a:t>Planograma 3D: vânzări și planograma aprobată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6035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303F"/>
                </a:solidFill>
                <a:latin typeface="Calibri"/>
              </a:defRPr>
            </a:pPr>
            <a:r>
              <a:t>•  Două regimuri ale aceleiași scene — „Starea curentă a vânzărilor” și „Planograma aprobată”, comutare prin butoane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303F"/>
                </a:solidFill>
                <a:latin typeface="Calibri"/>
              </a:defRPr>
            </a:pPr>
            <a:r>
              <a:t>•  Hartă termică a stocurilor: verde — raft plin, roșu semitransparent — out-of-stock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303F"/>
                </a:solidFill>
                <a:latin typeface="Calibri"/>
              </a:defRPr>
            </a:pPr>
            <a:r>
              <a:t>•  Adâncimea stivei de produs este proporțională cu stocul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303F"/>
                </a:solidFill>
                <a:latin typeface="Calibri"/>
              </a:defRPr>
            </a:pPr>
            <a:r>
              <a:t>•  Planograma aprobată este colorată pe furnizori — se văd cotele de raft din contracte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303F"/>
                </a:solidFill>
                <a:latin typeface="Calibri"/>
              </a:defRPr>
            </a:pPr>
            <a:r>
              <a:t>•  Card la hover: SKU, furnizor, facinguri, stoc, viteza de vânzare, rezervă în zile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303F"/>
                </a:solidFill>
                <a:latin typeface="Calibri"/>
              </a:defRPr>
            </a:pPr>
            <a:r>
              <a:t>•  Raportul — un fișier HTML autonom: poate fi trimis prin e-mail</a:t>
            </a:r>
          </a:p>
        </p:txBody>
      </p:sp>
      <p:pic>
        <p:nvPicPr>
          <p:cNvPr id="4" name="Picture 3" descr="planogram_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143000"/>
            <a:ext cx="4937760" cy="27774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672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23303F"/>
                </a:solidFill>
                <a:latin typeface="Cambria"/>
              </a:rPr>
              <a:t>Control de conformitate: regulament și contracte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303F"/>
                </a:solidFill>
                <a:latin typeface="Calibri"/>
              </a:defRPr>
            </a:pPr>
            <a:r>
              <a:t>•  Regulament intern — greutate pe rafturile de sus, gabarite în lumina raftului, supraîncărcare și suprapuneri de expunere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303F"/>
                </a:solidFill>
                <a:latin typeface="Calibri"/>
              </a:defRPr>
            </a:pPr>
            <a:r>
              <a:t>•  Contracte cu furnizorii — cotă minimă de raft, SKU obligatorii, nivelul ochilor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303F"/>
                </a:solidFill>
                <a:latin typeface="Calibri"/>
              </a:defRPr>
            </a:pPr>
            <a:r>
              <a:t>•  Fapt vs. planogramă — poziții lipsă sau în plus, discrepanțe de facinguri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303F"/>
                </a:solidFill>
                <a:latin typeface="Calibri"/>
              </a:defRPr>
            </a:pPr>
            <a:r>
              <a:t>•  Vânzări — out-of-stock, umplere scăzută, stoc sub vânzările zilnice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303F"/>
                </a:solidFill>
                <a:latin typeface="Calibri"/>
              </a:defRPr>
            </a:pPr>
            <a:r>
              <a:t>•  Fiecare abatere are o „adresă”: raft, poliță, SKU, motiv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1280160"/>
            <a:ext cx="30175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FFD54F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2514600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B6672"/>
                </a:solidFill>
                <a:latin typeface="Calibri"/>
              </a:rPr>
              <a:t>încălcări găsite de
magazinul demo (6 critice)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672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23303F"/>
                </a:solidFill>
                <a:latin typeface="Cambria"/>
              </a:rPr>
              <a:t>Harta live a Chișinăului, Zabbix și centrul logistic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23303F"/>
                </a:solidFill>
                <a:latin typeface="Calibri"/>
              </a:defRPr>
            </a:pPr>
            <a:r>
              <a:t>•  Hartă din OpenStreetMap: străzi, clădiri din Chișinău — autonomă, nu necesită internet; 2D/3D cu extrudare pe număr de etaje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23303F"/>
                </a:solidFill>
                <a:latin typeface="Calibri"/>
              </a:defRPr>
            </a:pPr>
            <a:r>
              <a:t>•  Emularea zilei comerciale (1 s = 10 min): vânzări și venituri în lei moldovenești (L), rafturi goale, flux de evenimente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23303F"/>
                </a:solidFill>
                <a:latin typeface="Calibri"/>
              </a:defRPr>
            </a:pPr>
            <a:r>
              <a:t>•  Zabbix: insignă cu probleme active pe fiecare magazin, listă în card (API real sau emulare)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23303F"/>
                </a:solidFill>
                <a:latin typeface="Calibri"/>
              </a:defRPr>
            </a:pPr>
            <a:r>
              <a:t>•  Buffer DC: raft gol → comandă → camion pe străzile Chișinăului → reaprovizionare; recomandă la furnizori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23303F"/>
                </a:solidFill>
                <a:latin typeface="Calibri"/>
              </a:defRPr>
            </a:pPr>
            <a:r>
              <a:t>•  Intrare în magazin, în stil de joc: zbor de cameră, „ușă”, interior cu trei file</a:t>
            </a:r>
          </a:p>
        </p:txBody>
      </p:sp>
      <p:pic>
        <p:nvPicPr>
          <p:cNvPr id="4" name="Picture 3" descr="map_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97280"/>
            <a:ext cx="5212080" cy="29317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672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23303F"/>
                </a:solidFill>
                <a:latin typeface="Cambria"/>
              </a:rPr>
              <a:t>Simularea sălii: senzorii magazinului pe o singură schemă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760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23303F"/>
                </a:solidFill>
                <a:latin typeface="Calibri"/>
              </a:defRPr>
            </a:pPr>
            <a:r>
              <a:t>•  Clienții merg la rafturile reale ale planogramei, la cântare, case și punctul de control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23303F"/>
                </a:solidFill>
                <a:latin typeface="Calibri"/>
              </a:defRPr>
            </a:pPr>
            <a:r>
              <a:t>•  Cozi la case în timp real; estimarea traficului: senzori intrare/ieșire − cozi = distribuit uniform în sală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23303F"/>
                </a:solidFill>
                <a:latin typeface="Calibri"/>
              </a:defRPr>
            </a:pPr>
            <a:r>
              <a:t>•  Terminale mobile: beacon-uri BLE (±0.5–1 m) în zona de vânzare, LoRa (±2–3.5 m) pe restul suprafeței, cercuri de precizie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23303F"/>
                </a:solidFill>
                <a:latin typeface="Calibri"/>
              </a:defRPr>
            </a:pPr>
            <a:r>
              <a:t>•  Frigidere: temperatură, ușă, compresor, alarme; zonele de produse perisabile sunt evidențiate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23303F"/>
                </a:solidFill>
                <a:latin typeface="Calibri"/>
              </a:defRPr>
            </a:pPr>
            <a:r>
              <a:t>•  Consumabile: bandă case/cântare, pungi — cereri de înlocuire</a:t>
            </a:r>
          </a:p>
        </p:txBody>
      </p:sp>
      <p:pic>
        <p:nvPicPr>
          <p:cNvPr id="4" name="Picture 3" descr="hall_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97280"/>
            <a:ext cx="5212080" cy="29317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672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3303F"/>
                </a:solidFill>
                <a:latin typeface="Cambria"/>
              </a:rPr>
              <a:t>Simulator pentru personal și motivare în Roblox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303F"/>
                </a:solidFill>
                <a:latin typeface="Calibri"/>
              </a:defRPr>
            </a:pPr>
            <a:r>
              <a:t>•  Joc de tip time-management: depozit → rafturi → casă, curățenie, bandă, frigidere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303F"/>
                </a:solidFill>
                <a:latin typeface="Calibri"/>
              </a:defRPr>
            </a:pPr>
            <a:r>
              <a:t>•  Clienți cu răbdare ❤ — pleacă supărați dacă așteaptă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303F"/>
                </a:solidFill>
                <a:latin typeface="Calibri"/>
              </a:defRPr>
            </a:pPr>
            <a:r>
              <a:t>•  3 schimburi-nivel, stele, analiza greșelilor și sfaturi la final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303F"/>
                </a:solidFill>
                <a:latin typeface="Calibri"/>
              </a:defRPr>
            </a:pPr>
            <a:r>
              <a:t>•  Înregistrare: nume + nick Roblox; puncte și insigne pentru cazuri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303F"/>
                </a:solidFill>
                <a:latin typeface="Calibri"/>
              </a:defRPr>
            </a:pPr>
            <a:r>
              <a:t>•  Open Cloud: DataStore + MessagingService — recompensele se văd direct în experiența Roblox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303F"/>
                </a:solidFill>
                <a:latin typeface="Calibri"/>
              </a:defRPr>
            </a:pPr>
            <a:r>
              <a:t>•  Convertorul robloxkit: sala cu planograma reală → .rbxlx pentru Roblox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672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3303F"/>
                </a:solidFill>
                <a:latin typeface="Cambria"/>
              </a:rPr>
              <a:t>Comenzi online: asamblare → rute → Gantt → GPS → bon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5760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23303F"/>
                </a:solidFill>
                <a:latin typeface="Calibri"/>
              </a:defRPr>
            </a:pPr>
            <a:r>
              <a:t>•  Comenzile se leagă de cel mai apropiat magazin, asamblare după planogramă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23303F"/>
                </a:solidFill>
                <a:latin typeface="Calibri"/>
              </a:defRPr>
            </a:pPr>
            <a:r>
              <a:t>•  Gruparea în rute de 2–4 adrese („cel mai apropiat vecin”)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23303F"/>
                </a:solidFill>
                <a:latin typeface="Calibri"/>
              </a:defRPr>
            </a:pPr>
            <a:r>
              <a:t>•  Diagramă Gantt: plan/fapt pentru fiecare etapă, linia „acum”, întârzierile în roșu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23303F"/>
                </a:solidFill>
                <a:latin typeface="Calibri"/>
              </a:defRPr>
            </a:pPr>
            <a:r>
              <a:t>•  Curieri pe hartă după GPS din aplicație (POST /api/delivery/gps); fără telemetrie — emulare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50">
                <a:solidFill>
                  <a:srgbClr val="23303F"/>
                </a:solidFill>
                <a:latin typeface="Calibri"/>
              </a:defRPr>
            </a:pPr>
            <a:r>
              <a:t>•  Bonul la predare — bon fiscal conform legislației moldovenești (HG 141/2019); format tipărit de 80 mm</a:t>
            </a:r>
          </a:p>
        </p:txBody>
      </p:sp>
      <p:pic>
        <p:nvPicPr>
          <p:cNvPr id="4" name="Picture 3" descr="delivery_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43000"/>
            <a:ext cx="5212080" cy="29317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672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3303F"/>
                </a:solidFill>
                <a:latin typeface="Cambria"/>
              </a:rPr>
              <a:t>Tablou de sosire cu IA: fiecare punct își vede transportul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5B6672"/>
                </a:solidFill>
                <a:latin typeface="Calibri"/>
              </a:rPr>
              <a:t>prin analogie cu „stațiile inteligente” de transport public (Urban Way, Bălți · EIT Urban Mobility): telemetrie GPS a mașinilor → model IA → tablou online la punct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303F"/>
                </a:solidFill>
                <a:latin typeface="Calibri"/>
              </a:defRPr>
            </a:pPr>
            <a:r>
              <a:t>•  Magazin: tabloul mașinilor furnizorilor și DC direct în cardul de pe hartă — ora de sosire, ±σ, progresul cursei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303F"/>
                </a:solidFill>
                <a:latin typeface="Calibri"/>
              </a:defRPr>
            </a:pPr>
            <a:r>
              <a:t>•  Adresa clientului: clic pe punctul de pe panoul de livrare — curier, poziția în coadă, ora IA vs. plan, actualizare live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303F"/>
                </a:solidFill>
                <a:latin typeface="Calibri"/>
              </a:defRPr>
            </a:pPr>
            <a:r>
              <a:t>•  Modelul învață online din telemetria fiecărei etape finalizate: viteze EWMA cu dispersie, coeficienți de trafic pe ora zilei, durata predării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303F"/>
                </a:solidFill>
                <a:latin typeface="Calibri"/>
              </a:defRPr>
            </a:pPr>
            <a:r>
              <a:t>•  Incertitudinea este onestă: ±1σ se acumulează pe etapele rutei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303F"/>
                </a:solidFill>
                <a:latin typeface="Calibri"/>
              </a:defRPr>
            </a:pPr>
            <a:r>
              <a:t>•  Același predictor deservește și conturul de combustibil: tabloul de sosire al cisternelor la stații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672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23303F"/>
                </a:solidFill>
                <a:latin typeface="Cambria"/>
              </a:rPr>
              <a:t>Contur de combustibil: geamănul digital al rețelei de stații din Moldova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B6672"/>
                </a:solidFill>
                <a:latin typeface="Calibri"/>
              </a:rPr>
              <a:t>aceeași soluție arhitecturală ca la rețeaua de retail — hartă autonomă, deplasare pe drumuri reale, tablou de sosire cu IA — aplicată unui alt domeniu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760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23303F"/>
                </a:solidFill>
                <a:latin typeface="Calibri"/>
              </a:defRPr>
            </a:pPr>
            <a:r>
              <a:t>•  46 de stații reale din toată Moldova, plus baza de combustibil Sîngera — hartă autonomă a țării (OSM), fără internet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23303F"/>
                </a:solidFill>
                <a:latin typeface="Calibri"/>
              </a:defRPr>
            </a:pPr>
            <a:r>
              <a:t>•  Cisternele circulă pe șoselele reale ale Moldovei (graf rutier, A*), nu în linie dreaptă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23303F"/>
                </a:solidFill>
                <a:latin typeface="Calibri"/>
              </a:defRPr>
            </a:pPr>
            <a:r>
              <a:t>•  Comandă automată: stocul stației scade sub prag → cursa cisternei se generează automat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23303F"/>
                </a:solidFill>
                <a:latin typeface="Calibri"/>
              </a:defRPr>
            </a:pPr>
            <a:r>
              <a:t>•  Integrare live cu ERP Artgranit: sistemul interoghează sursa reală, iar la indisponibilitate revine la emulare după un timeout — fără nicio întrerupere a demo-ului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23303F"/>
                </a:solidFill>
                <a:latin typeface="Calibri"/>
              </a:defRPr>
            </a:pPr>
            <a:r>
              <a:t>•  Tablou de sosire cu IA la fiecare stație — același predictor eta_ai.py ca la livrarea de retail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50">
                <a:solidFill>
                  <a:srgbClr val="23303F"/>
                </a:solidFill>
                <a:latin typeface="Calibri"/>
              </a:defRPr>
            </a:pPr>
            <a:r>
              <a:t>•  Flux de evenimente: comandă, expediere de la baza de combustibil, sosire, pierderea/restabilirea legăturii cu ERP</a:t>
            </a:r>
          </a:p>
        </p:txBody>
      </p:sp>
      <p:pic>
        <p:nvPicPr>
          <p:cNvPr id="5" name="Picture 4" descr="fuel_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5212080" cy="29317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672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3303F"/>
                </a:solidFill>
                <a:latin typeface="Cambria"/>
              </a:rPr>
              <a:t>Bonul conform legislației moldovenești: bon fiscal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5B6672"/>
                </a:solidFill>
                <a:latin typeface="Calibri"/>
              </a:rPr>
              <a:t>HG 141/2019, Serviciul Fiscal de Stat — formatul bonului a fost adaptat cerințelor Moldovei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6400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23303F"/>
                </a:solidFill>
                <a:latin typeface="Calibri"/>
              </a:defRPr>
            </a:pPr>
            <a:r>
              <a:t>•  Datele companiei: denumire, IDNO (cod fiscal), adresa subdiviziunii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23303F"/>
                </a:solidFill>
                <a:latin typeface="Calibri"/>
              </a:defRPr>
            </a:pPr>
            <a:r>
              <a:t>•  Numărul de fabricație și de înregistrare ECC, nu FN/FD/FP din legislația rusă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23303F"/>
                </a:solidFill>
                <a:latin typeface="Calibri"/>
              </a:defRPr>
            </a:pPr>
            <a:r>
              <a:t>•  TVA se calculează pe cote, separat pentru fiecare poziție: 20% standard, 8% redusă (pâine, lapte și alte produse de primă necesitate)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23303F"/>
                </a:solidFill>
                <a:latin typeface="Calibri"/>
              </a:defRPr>
            </a:pPr>
            <a:r>
              <a:t>•  Format tipărit de 80 mm — același bon care merge pe Android cu casă de marcat în cloud sau pe terminalul SmartOne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23303F"/>
                </a:solidFill>
                <a:latin typeface="Calibri"/>
              </a:defRPr>
            </a:pPr>
            <a:r>
              <a:t>•  Se generează în momentul predării comenzii de către curier, legat de o rută și un destinatar anume</a:t>
            </a:r>
          </a:p>
        </p:txBody>
      </p:sp>
      <p:pic>
        <p:nvPicPr>
          <p:cNvPr id="5" name="Picture 4" descr="receipt_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280160"/>
            <a:ext cx="4297680" cy="24174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672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3303F"/>
                </a:solidFill>
                <a:latin typeface="Cambria"/>
              </a:rPr>
              <a:t>Trei limbi ale interfeței: ru / ro / 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5B6672"/>
                </a:solidFill>
                <a:latin typeface="Calibri"/>
              </a:rPr>
              <a:t>româna — limba de stat, rusa și engleza — limbile de lucru ale audienței curente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303F"/>
                </a:solidFill>
                <a:latin typeface="Calibri"/>
              </a:defRPr>
            </a:pPr>
            <a:r>
              <a:t>•  Catalog cu 422 de chei traduse: interfață, flux de evenimente, bon, indicii ale simulatorului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303F"/>
                </a:solidFill>
                <a:latin typeface="Calibri"/>
              </a:defRPr>
            </a:pPr>
            <a:r>
              <a:t>•  Comutator de limbă pe fiecare ecran — hartă, livrare, rețea de combustibil, planogramă, simulator, documentație, prezentări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303F"/>
                </a:solidFill>
                <a:latin typeface="Calibri"/>
              </a:defRPr>
            </a:pPr>
            <a:r>
              <a:t>•  Pluralul se calculează după regulile fiecărei limbi în parte (rusa — 3 forme, română — 2, engleză — 2)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303F"/>
                </a:solidFill>
                <a:latin typeface="Calibri"/>
              </a:defRPr>
            </a:pPr>
            <a:r>
              <a:t>•  Alegerea limbii este reținută (localStorage) și supraviețuiește navigării între secțiuni prin linkuri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3303F"/>
                </a:solidFill>
                <a:latin typeface="Calibri"/>
              </a:defRPr>
            </a:pPr>
            <a:r>
              <a:t>•  Fluxul de evenimente și bonul fiscal se compun pe server, în limba cererii — nu doar etichetele statice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672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Concluzii și dezvoltare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2514600" cy="1737360"/>
          </a:xfrm>
          <a:prstGeom prst="rect">
            <a:avLst/>
          </a:prstGeom>
          <a:solidFill>
            <a:srgbClr val="2F4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FFD54F"/>
                </a:solidFill>
              </a:defRPr>
            </a:pPr>
            <a:r>
              <a:t>6</a:t>
            </a:r>
          </a:p>
          <a:p>
            <a:pPr algn="ctr">
              <a:defRPr sz="1100">
                <a:solidFill>
                  <a:srgbClr val="C8D4E2"/>
                </a:solidFill>
              </a:defRPr>
            </a:pPr>
            <a:r>
              <a:t>magazine ale rețelei</a:t>
            </a:r>
            <a:br/>
            <a:r>
              <a:t>din Chișinău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1463040"/>
            <a:ext cx="2514600" cy="1737360"/>
          </a:xfrm>
          <a:prstGeom prst="rect">
            <a:avLst/>
          </a:prstGeom>
          <a:solidFill>
            <a:srgbClr val="2F4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FFD54F"/>
                </a:solidFill>
              </a:defRPr>
            </a:pPr>
            <a:r>
              <a:t>46</a:t>
            </a:r>
          </a:p>
          <a:p>
            <a:pPr algn="ctr">
              <a:defRPr sz="1100">
                <a:solidFill>
                  <a:srgbClr val="C8D4E2"/>
                </a:solidFill>
              </a:defRPr>
            </a:pPr>
            <a:r>
              <a:t>stații în conturul</a:t>
            </a:r>
            <a:br/>
            <a:r>
              <a:t>de combustibil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463040"/>
            <a:ext cx="2514600" cy="1737360"/>
          </a:xfrm>
          <a:prstGeom prst="rect">
            <a:avLst/>
          </a:prstGeom>
          <a:solidFill>
            <a:srgbClr val="2F4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FFD54F"/>
                </a:solidFill>
              </a:defRPr>
            </a:pPr>
            <a:r>
              <a:t>3</a:t>
            </a:r>
          </a:p>
          <a:p>
            <a:pPr algn="ctr">
              <a:defRPr sz="1100">
                <a:solidFill>
                  <a:srgbClr val="C8D4E2"/>
                </a:solidFill>
              </a:defRPr>
            </a:pPr>
            <a:r>
              <a:t>limbi ale</a:t>
            </a:r>
            <a:br/>
            <a:r>
              <a:t>interfeței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0" y="1463040"/>
            <a:ext cx="2514600" cy="1737360"/>
          </a:xfrm>
          <a:prstGeom prst="rect">
            <a:avLst/>
          </a:prstGeom>
          <a:solidFill>
            <a:srgbClr val="2F4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FFD54F"/>
                </a:solidFill>
              </a:defRPr>
            </a:pPr>
            <a:r>
              <a:t>1</a:t>
            </a:r>
          </a:p>
          <a:p>
            <a:pPr algn="ctr">
              <a:defRPr sz="1100">
                <a:solidFill>
                  <a:srgbClr val="C8D4E2"/>
                </a:solidFill>
              </a:defRPr>
            </a:pPr>
            <a:r>
              <a:t>obiect Store</a:t>
            </a:r>
            <a:br/>
            <a:r>
              <a:t>pentru toate datele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DCE6F2"/>
                </a:solidFill>
                <a:latin typeface="Calibri"/>
              </a:rPr>
              <a:t>O singură platformă — de la raftul din Chișinău până la șoseaua de combustibil din toată Moldova — pe un singur nucleu, cu prima integrare live (Artgranit) și bonul fiscal moldovenesc.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D54F"/>
                </a:solidFill>
                <a:latin typeface="Calibri"/>
              </a:rPr>
              <a:t>Următorul pas: un pilot pe un magazin real sau pe segmentul de combustibil, integrare printr-un singur obiect Store.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B6672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